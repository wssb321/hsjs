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24.svg" ContentType="image/svg+xml"/>
  <Override PartName="/ppt/media/image27.svg" ContentType="image/svg+xml"/>
  <Override PartName="/ppt/media/image29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71" r:id="rId13"/>
    <p:sldId id="270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6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"赓续文脉，强国有我"学习平台是一个基于 Vue 3 + Vite 的党建学习Web应用，旨在为用户提供全面的党史学习、党建知识浏览和个人学习管理功能。平台以红色精神为主题，结合现代化设计，为党员提供优质的学习体验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【前端框架：Vue 3】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采用最新的Composition API，代码逻辑更清晰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响应式系统性能优异，用户体验流畅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组件化开发模式，代码复用率高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社区活跃，生态完善，学习成本低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【构建工具：Vite 8.0】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极速冷启动，开发效率大幅提升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热模块替换（HMR），修改即见效果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原生ESM支持，无需打包即可开发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配置简单，易于上手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【路由管理：Vue Router 5】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单页应用路由解决方案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支持嵌套路由、路由守卫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模块化路由配置，便于维护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配合Vue 3 Composition API使用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【HTTP客户端：Axios】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简洁易用的HTTP请求库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支持拦截器、请求取消等高级功能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Promise-based，便于异步处理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• 自动转换JSON数据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svg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7.svg"/><Relationship Id="rId7" Type="http://schemas.openxmlformats.org/officeDocument/2006/relationships/image" Target="../media/image26.pn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9.sv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3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赓续文脉，强国有我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演讲人：郑泽锐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时间：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2026年5月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项目汇报目录</a:t>
            </a:r>
            <a:endParaRPr lang="zh-CN" altLang="en-US" sz="20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114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1968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项目概述——赓续文脉，强国有我</a:t>
            </a:r>
            <a:endParaRPr lang="en-US" sz="16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413000" y="2413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项目背景与意义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党建教育的重要性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平台建设目标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核心价值理念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683000"/>
            <a:ext cx="114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413000" y="3619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技术架构——现代化技术栈支撑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413000" y="4064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Vue 3 + Vite 技术选型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前后端架构设计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响应式设计实现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组件化开发模式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5207000" cy="146050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334000"/>
            <a:ext cx="114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413000" y="52705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核心功能——打造全方位学习体验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413000" y="5715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首页展示模块（Banner、轮播图、每日早报）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发展成就展示（经济、科技、民生、生态）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榜样人物模块（先进模范事迹）</a:t>
            </a:r>
            <a:endParaRPr lang="en-US" sz="11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AI智能问答助手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477000" y="2899410"/>
            <a:ext cx="5207000" cy="2095500"/>
          </a:xfrm>
          <a:prstGeom prst="roundRect">
            <a:avLst>
              <a:gd name="adj" fmla="val 727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731000" y="3280410"/>
            <a:ext cx="114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3280410"/>
            <a:ext cx="38989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项目不足以及未来期望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128000" y="391541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项目的缺点</a:t>
            </a:r>
            <a:endParaRPr lang="en-US" sz="12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功能扩展方向</a:t>
            </a:r>
            <a:endParaRPr lang="en-US" sz="12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技术优化计划</a:t>
            </a:r>
            <a:endParaRPr lang="en-US" sz="1200" b="0" i="0" u="none" strike="noStrike">
              <a:solidFill>
                <a:srgbClr val="77777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77777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数据安全与性能提升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192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spc="100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EXECUTIVE SUMMARY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8415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1016000" cy="1016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70000" y="2476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83130" y="1841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【当前形势】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2183130" y="27305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1.新时代党建工作面临数字化转型的</a:t>
            </a:r>
            <a:r>
              <a:rPr lang="en-US" b="0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迫切需求</a:t>
            </a:r>
            <a:endParaRPr lang="en-US" b="0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2.传统线下学习模式难以满足党员</a:t>
            </a:r>
            <a:r>
              <a:rPr lang="en-US" b="0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多样化学习需求</a:t>
            </a:r>
            <a:endParaRPr lang="en-US" b="0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3.党中央对党员教育信息化建设提出</a:t>
            </a:r>
            <a:r>
              <a:rPr lang="en-US" b="0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明确要求</a:t>
            </a:r>
            <a:endParaRPr lang="en-US" b="0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223000" y="279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77000" y="3175000"/>
            <a:ext cx="1016000" cy="1016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31000" y="34290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747000" y="304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【技术机遇】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747000" y="3556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互联网+党建成为趋势</a:t>
            </a:r>
            <a:endParaRPr lang="en-US" i="0" u="none" strike="noStrike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大数据</a:t>
            </a: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AI技术</a:t>
            </a: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</a:t>
            </a:r>
            <a:r>
              <a:rPr lang="en-US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个性化学习</a:t>
            </a: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提供可能</a:t>
            </a:r>
            <a:endParaRPr lang="en-US" i="0" u="none" strike="noStrike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移动端普及使随时随地学习成为现实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064000"/>
            <a:ext cx="5207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4445000"/>
            <a:ext cx="1016000" cy="1016000"/>
          </a:xfrm>
          <a:prstGeom prst="ellipse">
            <a:avLst/>
          </a:prstGeom>
          <a:solidFill>
            <a:srgbClr val="4FD1C5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699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2286000" y="4318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【现实挑战】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286000" y="4826000"/>
            <a:ext cx="342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学习内容</a:t>
            </a:r>
            <a:r>
              <a:rPr lang="en-US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分散</a:t>
            </a: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，缺乏统一平台整合</a:t>
            </a:r>
            <a:endParaRPr lang="en-US" i="0" u="none" strike="noStrike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学习</a:t>
            </a:r>
            <a:r>
              <a:rPr lang="en-US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进度难以追踪</a:t>
            </a: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，效果评估困难</a:t>
            </a:r>
            <a:endParaRPr lang="en-US" i="0" u="none" strike="noStrike"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i="0" u="none" strike="noStrike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年轻党员对传统教育方式</a:t>
            </a:r>
            <a:r>
              <a:rPr lang="en-US" i="0" u="none" strike="noStrike">
                <a:solidFill>
                  <a:srgbClr val="FF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接受度较低</a:t>
            </a:r>
            <a:endParaRPr lang="en-US" sz="1100" i="0" u="none" strike="noStrike">
              <a:solidFill>
                <a:srgbClr val="FF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6390" y="1441450"/>
            <a:ext cx="8999855" cy="4962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技术框架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技术选型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85800" y="3048000"/>
            <a:ext cx="3543935" cy="2148205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3164205"/>
            <a:ext cx="635000" cy="635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01800" y="3291205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核心框架: Vue 3 (Composition API</a:t>
            </a:r>
            <a:r>
              <a:rPr lang="zh-CN" alt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</a:t>
            </a:r>
            <a:endParaRPr lang="zh-CN" altLang="en-US" sz="14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939800" y="4338955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采用最新的Composition API，代码逻辑更清晰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响应式系统性能优异，用户体验流畅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组件化开发模式，代码复用率高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社区活跃，生态完善，学习成本低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445000" y="3048000"/>
            <a:ext cx="3302000" cy="214884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3302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34000" y="33528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构建工具</a:t>
            </a:r>
            <a:r>
              <a:rPr lang="zh-CN" alt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：Vite 8.0.0</a:t>
            </a:r>
            <a:endParaRPr lang="zh-CN" altLang="en-US" sz="14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737100" y="4210685"/>
            <a:ext cx="2794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极速冷启动，开发效率大幅提升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热模块替换（HMR），修改即见效果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原生ESM支持，无需打包即可开发</a:t>
            </a:r>
            <a:endParaRPr lang="en-US" sz="1200" b="0" i="0" u="none" strike="noStrike">
              <a:solidFill>
                <a:srgbClr val="999999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配置简单，易于上手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962265" y="3048000"/>
            <a:ext cx="3302000" cy="2148205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t>单页应用路由解决方案</a:t>
            </a:r>
          </a:p>
          <a:p>
            <a:pPr algn="ctr">
              <a:defRPr/>
            </a:pPr>
            <a:r>
              <a:t>• 支持嵌套路由、路由守卫</a:t>
            </a:r>
          </a:p>
          <a:p>
            <a:pPr algn="ctr">
              <a:defRPr/>
            </a:pPr>
            <a:r>
              <a:t>• 模块化路由配置，便于维护</a:t>
            </a:r>
          </a:p>
          <a:p>
            <a:pPr algn="ctr">
              <a:defRPr/>
            </a:pPr>
            <a:r>
              <a:t>• 配合Vue 3 Composition API使用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31175" y="3195320"/>
            <a:ext cx="457200" cy="4572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673465" y="319532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路由管理: Vue Router 5.0.3</a:t>
            </a:r>
            <a:endParaRPr lang="en-US" sz="1100"/>
          </a:p>
        </p:txBody>
      </p:sp>
      <p:sp>
        <p:nvSpPr>
          <p:cNvPr id="40" name="AutoShape 40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16000"/>
            </a:avLst>
          </a:prstGeom>
          <a:solidFill>
            <a:srgbClr val="F3F4F6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0935" y="3092450"/>
            <a:ext cx="752475" cy="209550"/>
          </a:xfrm>
          <a:prstGeom prst="rect">
            <a:avLst/>
          </a:prstGeom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0" y="3164205"/>
            <a:ext cx="523875" cy="28575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9925" y="3199130"/>
            <a:ext cx="523875" cy="60007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2920" y="29845"/>
            <a:ext cx="4800600" cy="301815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2870" y="29845"/>
            <a:ext cx="4112895" cy="2990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206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用户增长与内容生态双提升 · 2026年度运营数据复盘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4572000"/>
          </a:xfrm>
          <a:prstGeom prst="roundRect">
            <a:avLst>
              <a:gd name="adj" fmla="val 3333"/>
            </a:avLst>
          </a:prstGeom>
          <a:blipFill rotWithShape="1">
            <a:blip r:embed="rId2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87452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</a:t>
            </a:r>
            <a:r>
              <a:rPr lang="zh-CN" alt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智能问答助手</a:t>
            </a:r>
            <a:endParaRPr lang="zh-CN" altLang="en-US" sz="1800" b="1" i="0" u="none" strike="noStrike">
              <a:solidFill>
                <a:srgbClr val="4FD1C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1778000"/>
            <a:ext cx="5207000" cy="4572000"/>
          </a:xfrm>
          <a:prstGeom prst="roundRect">
            <a:avLst>
              <a:gd name="adj" fmla="val 3333"/>
            </a:avLst>
          </a:prstGeom>
          <a:blipFill rotWithShape="1"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86500" y="187452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每日早报</a:t>
            </a:r>
            <a:r>
              <a:rPr lang="en-US" altLang="zh-CN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8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实时功能</a:t>
            </a:r>
            <a:endParaRPr lang="zh-CN" altLang="en-US" sz="1800" b="1" i="0" u="none" strike="noStrike">
              <a:solidFill>
                <a:srgbClr val="4FD1C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6223000" y="4953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5270500"/>
            <a:ext cx="711200" cy="711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366000" y="51435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每日早报提供学习</a:t>
            </a:r>
            <a:endParaRPr lang="zh-CN" altLang="en-US" sz="14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366000" y="55245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6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每日实时更新</a:t>
            </a:r>
            <a:endParaRPr lang="zh-CN" altLang="en-US" sz="1100"/>
          </a:p>
        </p:txBody>
      </p:sp>
      <p:sp useBgFill="1">
        <p:nvSpPr>
          <p:cNvPr id="37" name="矩形 36"/>
          <p:cNvSpPr/>
          <p:nvPr/>
        </p:nvSpPr>
        <p:spPr>
          <a:xfrm>
            <a:off x="4000500" y="5334000"/>
            <a:ext cx="1308735" cy="545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>
                <a:solidFill>
                  <a:srgbClr val="FF0000"/>
                </a:solidFill>
              </a:rPr>
              <a:t>无需登录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604520" y="952500"/>
            <a:ext cx="10668000" cy="635000"/>
          </a:xfrm>
          <a:prstGeom prst="roundRect">
            <a:avLst>
              <a:gd name="adj" fmla="val 16000"/>
            </a:avLst>
          </a:prstGeom>
          <a:blipFill rotWithShape="1">
            <a:blip r:embed="rId6"/>
            <a:stretch>
              <a:fillRect/>
            </a:stretch>
          </a:blip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88975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 useBgFill="1">
        <p:nvSpPr>
          <p:cNvPr id="36" name="矩形 35"/>
          <p:cNvSpPr/>
          <p:nvPr/>
        </p:nvSpPr>
        <p:spPr>
          <a:xfrm>
            <a:off x="1016000" y="5334000"/>
            <a:ext cx="1308735" cy="5454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zh-CN" altLang="en-US">
                <a:solidFill>
                  <a:srgbClr val="FF0000"/>
                </a:solidFill>
              </a:rPr>
              <a:t>响应快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0500" y="5334000"/>
            <a:ext cx="508000" cy="508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34000"/>
            <a:ext cx="508000" cy="50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项目亮点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4699000"/>
          </a:xfrm>
          <a:prstGeom prst="roundRect">
            <a:avLst>
              <a:gd name="adj" fmla="val 3243"/>
            </a:avLst>
          </a:prstGeom>
          <a:blipFill rotWithShape="1">
            <a:blip r:embed="rId2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76200"/>
          </a:xfrm>
          <a:prstGeom prst="roundRect">
            <a:avLst>
              <a:gd name="adj" fmla="val 20000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48895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EBFAF9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206500" y="49784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B4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zh-CN" altLang="en-US" sz="1300" b="1" i="0" u="none" strike="noStrike">
                <a:solidFill>
                  <a:srgbClr val="3CB4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学习收藏界面</a:t>
            </a:r>
            <a:endParaRPr lang="zh-CN" altLang="en-US" sz="1300" b="1" i="0" u="none" strike="noStrike">
              <a:solidFill>
                <a:srgbClr val="3CB4A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206500" y="53086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>
                <a:ea typeface="宋体" panose="02010600030101010101" pitchFamily="2" charset="-122"/>
              </a:rPr>
              <a:t>收藏自己喜欢的文章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1524000"/>
            <a:ext cx="5207000" cy="4699000"/>
          </a:xfrm>
          <a:prstGeom prst="roundRect">
            <a:avLst>
              <a:gd name="adj" fmla="val 3243"/>
            </a:avLst>
          </a:prstGeom>
          <a:blipFill rotWithShape="1">
            <a:blip r:embed="rId3"/>
            <a:stretch>
              <a:fillRect/>
            </a:stretch>
          </a:blip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1524000"/>
            <a:ext cx="5207000" cy="76200"/>
          </a:xfrm>
          <a:prstGeom prst="roundRect">
            <a:avLst>
              <a:gd name="adj" fmla="val 20000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561455" y="49784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EBFAF9">
              <a:alpha val="100000"/>
            </a:srgbClr>
          </a:solidFill>
          <a:ln w="12700" cap="flat" cmpd="sng">
            <a:solidFill>
              <a:srgbClr val="4FD1C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67500" y="4978400"/>
            <a:ext cx="431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CB4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</a:t>
            </a:r>
            <a:r>
              <a:rPr lang="zh-CN" altLang="en-US" sz="1300" b="1" i="0" u="none" strike="noStrike">
                <a:solidFill>
                  <a:srgbClr val="3CB4A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笔记</a:t>
            </a:r>
            <a:endParaRPr lang="zh-CN" altLang="en-US" sz="1300" b="1" i="0" u="none" strike="noStrike">
              <a:solidFill>
                <a:srgbClr val="3CB4A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6667500" y="53086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可以记录笔记，且记录不会因刷新页面而消失</a:t>
            </a:r>
            <a:endParaRPr lang="zh-CN" altLang="en-US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558800" cy="5588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" y="2768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6670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ct val="60000"/>
              </a:spcAft>
            </a:pPr>
            <a:r>
              <a:rPr lang="zh-CN" altLang="en-US" sz="1600" b="1">
                <a:sym typeface="+mn-ea"/>
              </a:rPr>
              <a:t>现代化技术栈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buFont typeface="Arial" panose="020B0604020202020204"/>
              <a:buChar char="•"/>
            </a:pPr>
            <a:r>
              <a:rPr lang="en-US" altLang="zh-CN">
                <a:sym typeface="+mn-ea"/>
              </a:rPr>
              <a:t>Vue 3 Composition API: </a:t>
            </a:r>
            <a:r>
              <a:rPr lang="zh-CN" altLang="en-US">
                <a:sym typeface="+mn-ea"/>
              </a:rPr>
              <a:t>提供了更好的逻辑复用和类型推断支持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en-US" altLang="zh-CN">
                <a:sym typeface="+mn-ea"/>
              </a:rPr>
              <a:t>Vite: </a:t>
            </a:r>
            <a:r>
              <a:rPr lang="zh-CN" altLang="en-US">
                <a:sym typeface="+mn-ea"/>
              </a:rPr>
              <a:t>开发体验极佳，热更新速度快，配置简单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组件化架构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所有功能都是独立组件，便于维护和扩展</a:t>
            </a:r>
            <a:endParaRPr lang="en-US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2413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558800" cy="5588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0600" y="27686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61000" y="26670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ct val="60000"/>
              </a:spcAft>
            </a:pPr>
            <a:r>
              <a:rPr lang="zh-CN" altLang="en-US" sz="1600" b="1">
                <a:sym typeface="+mn-ea"/>
              </a:rPr>
              <a:t>响应式设计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42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完善的移动端适配，支持不同屏幕尺寸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媒体查询优化，适配各种设备</a:t>
            </a:r>
            <a:endParaRPr lang="en-US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667000"/>
            <a:ext cx="558800" cy="5588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83600" y="2768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26670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ct val="60000"/>
              </a:spcAft>
            </a:pPr>
            <a:r>
              <a:rPr lang="zh-CN" altLang="en-US" sz="1600" b="1">
                <a:sym typeface="+mn-ea"/>
              </a:rPr>
              <a:t>数据可视化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42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环形进度图展示学习进度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时间线展示学习活动</a:t>
            </a:r>
            <a:endParaRPr lang="en-US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项目优势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558800" cy="5588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600" y="2768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26670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ct val="60000"/>
              </a:spcAft>
            </a:pPr>
            <a:r>
              <a:rPr lang="zh-CN" altLang="en-US" sz="1600" b="1">
                <a:sym typeface="+mn-ea"/>
              </a:rPr>
              <a:t>离线功能缺失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问题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不支持离线访问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影响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无网络时无法使用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建议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Service Worker</a:t>
            </a:r>
            <a:r>
              <a:rPr lang="zh-CN" altLang="en-US">
                <a:sym typeface="+mn-ea"/>
              </a:rPr>
              <a:t>实现离线缓存</a:t>
            </a:r>
            <a:endParaRPr lang="en-US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445000" y="2413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558800" cy="5588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00600" y="27686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461000" y="26670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ct val="60000"/>
              </a:spcAft>
            </a:pPr>
            <a:r>
              <a:rPr lang="zh-CN" altLang="en-US" sz="1600" b="1">
                <a:sym typeface="+mn-ea"/>
              </a:rPr>
              <a:t>缺少状态管理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42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问题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没有使用</a:t>
            </a:r>
            <a:r>
              <a:rPr lang="en-US" altLang="zh-CN">
                <a:sym typeface="+mn-ea"/>
              </a:rPr>
              <a:t>Vuex</a:t>
            </a:r>
            <a:r>
              <a:rPr lang="zh-CN" altLang="en-US">
                <a:sym typeface="+mn-ea"/>
              </a:rPr>
              <a:t>或</a:t>
            </a:r>
            <a:r>
              <a:rPr lang="en-US" altLang="zh-CN">
                <a:sym typeface="+mn-ea"/>
              </a:rPr>
              <a:t>Pinia</a:t>
            </a:r>
            <a:r>
              <a:rPr lang="zh-CN" altLang="en-US">
                <a:sym typeface="+mn-ea"/>
              </a:rPr>
              <a:t>进行全局状态管理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影响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组件间数据共享困难，跨页面状态同步麻烦</a:t>
            </a:r>
            <a:endParaRPr lang="zh-CN" altLang="en-US"/>
          </a:p>
          <a:p>
            <a:pPr>
              <a:spcAft>
                <a:spcPct val="60000"/>
              </a:spcAft>
            </a:pPr>
            <a:endParaRPr lang="en-US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128000" y="2413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382000" y="2667000"/>
            <a:ext cx="558800" cy="558800"/>
          </a:xfrm>
          <a:prstGeom prst="ellipse">
            <a:avLst/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83600" y="27686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144000" y="2667000"/>
            <a:ext cx="203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ct val="60000"/>
              </a:spcAft>
            </a:pPr>
            <a:r>
              <a:rPr lang="zh-CN" altLang="en-US" sz="1600" b="1">
                <a:sym typeface="+mn-ea"/>
              </a:rPr>
              <a:t>缺少表单验证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82000" y="3429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问题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部分表单缺乏严格的输入验证</a:t>
            </a:r>
            <a:endParaRPr lang="zh-CN" altLang="en-US"/>
          </a:p>
          <a:p>
            <a:pPr>
              <a:buFont typeface="Arial" panose="020B0604020202020204"/>
              <a:buChar char="•"/>
            </a:pPr>
            <a:r>
              <a:rPr lang="zh-CN" altLang="en-US">
                <a:sym typeface="+mn-ea"/>
              </a:rPr>
              <a:t>影响</a:t>
            </a:r>
            <a:r>
              <a:rPr lang="en-US" altLang="zh-CN">
                <a:sym typeface="+mn-ea"/>
              </a:rPr>
              <a:t>: </a:t>
            </a:r>
            <a:r>
              <a:rPr lang="zh-CN" altLang="en-US">
                <a:sym typeface="+mn-ea"/>
              </a:rPr>
              <a:t>可能导致数据不规范</a:t>
            </a:r>
            <a:endParaRPr lang="en-US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3"/>
          <p:cNvSpPr/>
          <p:nvPr/>
        </p:nvSpPr>
        <p:spPr>
          <a:xfrm>
            <a:off x="762000" y="635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项目缺点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508000" y="5451475"/>
            <a:ext cx="10668000" cy="762000"/>
          </a:xfrm>
          <a:prstGeom prst="roundRect">
            <a:avLst>
              <a:gd name="adj" fmla="val 20000"/>
            </a:avLst>
          </a:prstGeom>
          <a:solidFill>
            <a:srgbClr val="4FD1C5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>
              <a:defRPr/>
            </a:pPr>
            <a:r>
              <a:rPr lang="zh-CN">
                <a:ea typeface="宋体" panose="02010600030101010101" pitchFamily="2" charset="-122"/>
              </a:rPr>
              <a:t>还有很多缺点，要我去不断的改善以及优化</a:t>
            </a:r>
            <a:r>
              <a:rPr lang="en-US" altLang="zh-CN">
                <a:ea typeface="宋体" panose="02010600030101010101" pitchFamily="2" charset="-122"/>
              </a:rPr>
              <a:t>.....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2286000" y="1524000"/>
            <a:ext cx="7620000" cy="2667000"/>
          </a:xfrm>
          <a:prstGeom prst="roundRect">
            <a:avLst>
              <a:gd name="adj" fmla="val 5714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667000" y="2603500"/>
            <a:ext cx="685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zh-CN" altLang="en-US" sz="4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0" y="4826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4FD1C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我的汇报到此结束，谢谢大家！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5842000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4FD1C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1237</Words>
  <Application>WPS 演示</Application>
  <PresentationFormat/>
  <Paragraphs>162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</cp:lastModifiedBy>
  <cp:revision>5</cp:revision>
  <dcterms:created xsi:type="dcterms:W3CDTF">2026-04-15T11:56:00Z</dcterms:created>
  <dcterms:modified xsi:type="dcterms:W3CDTF">2026-05-11T07:19:00Z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E3EE0BC5D9894C23896CF72CC3B7CAD8_13</vt:lpwstr>
  </property>
  <property fmtid="{D5CDD505-2E9C-101B-9397-08002B2CF9AE}" pid="3" name="KSOProductBuildVer">
    <vt:lpwstr>2052-12.8.2.18205</vt:lpwstr>
  </property>
</Properties>
</file>